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Zen Dots" charset="1" panose="00000000000000000000"/>
      <p:regular r:id="rId17"/>
    </p:embeddedFont>
    <p:embeddedFont>
      <p:font typeface="Open Sauce" charset="1" panose="00000500000000000000"/>
      <p:regular r:id="rId18"/>
    </p:embeddedFont>
    <p:embeddedFont>
      <p:font typeface="Open Sauce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1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23.png" Type="http://schemas.openxmlformats.org/officeDocument/2006/relationships/image"/><Relationship Id="rId8" Target="../media/image14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9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45064" y="6300297"/>
            <a:ext cx="8397872" cy="8397872"/>
          </a:xfrm>
          <a:custGeom>
            <a:avLst/>
            <a:gdLst/>
            <a:ahLst/>
            <a:cxnLst/>
            <a:rect r="r" b="b" t="t" l="l"/>
            <a:pathLst>
              <a:path h="8397872" w="8397872">
                <a:moveTo>
                  <a:pt x="0" y="0"/>
                </a:moveTo>
                <a:lnTo>
                  <a:pt x="8397872" y="0"/>
                </a:lnTo>
                <a:lnTo>
                  <a:pt x="8397872" y="8397872"/>
                </a:lnTo>
                <a:lnTo>
                  <a:pt x="0" y="8397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76122" y="8127292"/>
            <a:ext cx="13135756" cy="4319415"/>
          </a:xfrm>
          <a:custGeom>
            <a:avLst/>
            <a:gdLst/>
            <a:ahLst/>
            <a:cxnLst/>
            <a:rect r="r" b="b" t="t" l="l"/>
            <a:pathLst>
              <a:path h="4319415" w="13135756">
                <a:moveTo>
                  <a:pt x="0" y="0"/>
                </a:moveTo>
                <a:lnTo>
                  <a:pt x="13135756" y="0"/>
                </a:lnTo>
                <a:lnTo>
                  <a:pt x="13135756" y="4319416"/>
                </a:lnTo>
                <a:lnTo>
                  <a:pt x="0" y="4319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7689692" y="-184648"/>
            <a:ext cx="12013438" cy="8229600"/>
          </a:xfrm>
          <a:custGeom>
            <a:avLst/>
            <a:gdLst/>
            <a:ahLst/>
            <a:cxnLst/>
            <a:rect r="r" b="b" t="t" l="l"/>
            <a:pathLst>
              <a:path h="8229600" w="12013438">
                <a:moveTo>
                  <a:pt x="12013438" y="0"/>
                </a:moveTo>
                <a:lnTo>
                  <a:pt x="0" y="0"/>
                </a:lnTo>
                <a:lnTo>
                  <a:pt x="0" y="8229600"/>
                </a:lnTo>
                <a:lnTo>
                  <a:pt x="12013438" y="8229600"/>
                </a:lnTo>
                <a:lnTo>
                  <a:pt x="12013438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14507" y="-184648"/>
            <a:ext cx="12013438" cy="8229600"/>
          </a:xfrm>
          <a:custGeom>
            <a:avLst/>
            <a:gdLst/>
            <a:ahLst/>
            <a:cxnLst/>
            <a:rect r="r" b="b" t="t" l="l"/>
            <a:pathLst>
              <a:path h="8229600" w="12013438">
                <a:moveTo>
                  <a:pt x="0" y="0"/>
                </a:moveTo>
                <a:lnTo>
                  <a:pt x="12013437" y="0"/>
                </a:lnTo>
                <a:lnTo>
                  <a:pt x="1201343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35635" y="-4976343"/>
            <a:ext cx="8397872" cy="8397872"/>
          </a:xfrm>
          <a:custGeom>
            <a:avLst/>
            <a:gdLst/>
            <a:ahLst/>
            <a:cxnLst/>
            <a:rect r="r" b="b" t="t" l="l"/>
            <a:pathLst>
              <a:path h="8397872" w="8397872">
                <a:moveTo>
                  <a:pt x="0" y="0"/>
                </a:moveTo>
                <a:lnTo>
                  <a:pt x="8397872" y="0"/>
                </a:lnTo>
                <a:lnTo>
                  <a:pt x="8397872" y="8397872"/>
                </a:lnTo>
                <a:lnTo>
                  <a:pt x="0" y="8397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95080" y="637196"/>
            <a:ext cx="12104142" cy="6717799"/>
          </a:xfrm>
          <a:custGeom>
            <a:avLst/>
            <a:gdLst/>
            <a:ahLst/>
            <a:cxnLst/>
            <a:rect r="r" b="b" t="t" l="l"/>
            <a:pathLst>
              <a:path h="6717799" w="12104142">
                <a:moveTo>
                  <a:pt x="0" y="0"/>
                </a:moveTo>
                <a:lnTo>
                  <a:pt x="12104141" y="0"/>
                </a:lnTo>
                <a:lnTo>
                  <a:pt x="12104141" y="6717798"/>
                </a:lnTo>
                <a:lnTo>
                  <a:pt x="0" y="67177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77284" y="3731611"/>
            <a:ext cx="6328844" cy="7246768"/>
          </a:xfrm>
          <a:custGeom>
            <a:avLst/>
            <a:gdLst/>
            <a:ahLst/>
            <a:cxnLst/>
            <a:rect r="r" b="b" t="t" l="l"/>
            <a:pathLst>
              <a:path h="7246768" w="6328844">
                <a:moveTo>
                  <a:pt x="0" y="0"/>
                </a:moveTo>
                <a:lnTo>
                  <a:pt x="6328844" y="0"/>
                </a:lnTo>
                <a:lnTo>
                  <a:pt x="6328844" y="7246767"/>
                </a:lnTo>
                <a:lnTo>
                  <a:pt x="0" y="72467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1997067" y="3731611"/>
            <a:ext cx="7042649" cy="7715262"/>
          </a:xfrm>
          <a:custGeom>
            <a:avLst/>
            <a:gdLst/>
            <a:ahLst/>
            <a:cxnLst/>
            <a:rect r="r" b="b" t="t" l="l"/>
            <a:pathLst>
              <a:path h="7715262" w="7042649">
                <a:moveTo>
                  <a:pt x="7042649" y="0"/>
                </a:moveTo>
                <a:lnTo>
                  <a:pt x="0" y="0"/>
                </a:lnTo>
                <a:lnTo>
                  <a:pt x="0" y="7715261"/>
                </a:lnTo>
                <a:lnTo>
                  <a:pt x="7042649" y="7715261"/>
                </a:lnTo>
                <a:lnTo>
                  <a:pt x="7042649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853429" y="2122690"/>
            <a:ext cx="581142" cy="540991"/>
          </a:xfrm>
          <a:custGeom>
            <a:avLst/>
            <a:gdLst/>
            <a:ahLst/>
            <a:cxnLst/>
            <a:rect r="r" b="b" t="t" l="l"/>
            <a:pathLst>
              <a:path h="540991" w="581142">
                <a:moveTo>
                  <a:pt x="0" y="0"/>
                </a:moveTo>
                <a:lnTo>
                  <a:pt x="581142" y="0"/>
                </a:lnTo>
                <a:lnTo>
                  <a:pt x="581142" y="540991"/>
                </a:lnTo>
                <a:lnTo>
                  <a:pt x="0" y="5409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05641" y="2809881"/>
            <a:ext cx="9076718" cy="222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6"/>
              </a:lnSpc>
            </a:pPr>
            <a:r>
              <a:rPr lang="en-US" sz="7151">
                <a:solidFill>
                  <a:srgbClr val="EED3FF"/>
                </a:solidFill>
                <a:latin typeface="Zen Dots"/>
                <a:ea typeface="Zen Dots"/>
                <a:cs typeface="Zen Dots"/>
                <a:sym typeface="Zen Dots"/>
              </a:rPr>
              <a:t>DATA SCIENCE</a:t>
            </a:r>
          </a:p>
          <a:p>
            <a:pPr algn="ctr">
              <a:lnSpc>
                <a:spcPts val="8796"/>
              </a:lnSpc>
            </a:pPr>
            <a:r>
              <a:rPr lang="en-US" sz="7151">
                <a:solidFill>
                  <a:srgbClr val="EED3FF"/>
                </a:solidFill>
                <a:latin typeface="Zen Dots"/>
                <a:ea typeface="Zen Dots"/>
                <a:cs typeface="Zen Dots"/>
                <a:sym typeface="Zen Dots"/>
              </a:rPr>
              <a:t>BOT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9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0541" y="1240611"/>
            <a:ext cx="9637596" cy="9637596"/>
          </a:xfrm>
          <a:custGeom>
            <a:avLst/>
            <a:gdLst/>
            <a:ahLst/>
            <a:cxnLst/>
            <a:rect r="r" b="b" t="t" l="l"/>
            <a:pathLst>
              <a:path h="9637596" w="9637596">
                <a:moveTo>
                  <a:pt x="0" y="0"/>
                </a:moveTo>
                <a:lnTo>
                  <a:pt x="9637596" y="0"/>
                </a:lnTo>
                <a:lnTo>
                  <a:pt x="9637596" y="9637597"/>
                </a:lnTo>
                <a:lnTo>
                  <a:pt x="0" y="96375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4723" y="7821256"/>
            <a:ext cx="19567836" cy="7386858"/>
          </a:xfrm>
          <a:custGeom>
            <a:avLst/>
            <a:gdLst/>
            <a:ahLst/>
            <a:cxnLst/>
            <a:rect r="r" b="b" t="t" l="l"/>
            <a:pathLst>
              <a:path h="7386858" w="19567836">
                <a:moveTo>
                  <a:pt x="0" y="0"/>
                </a:moveTo>
                <a:lnTo>
                  <a:pt x="19567836" y="0"/>
                </a:lnTo>
                <a:lnTo>
                  <a:pt x="19567836" y="7386858"/>
                </a:lnTo>
                <a:lnTo>
                  <a:pt x="0" y="7386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96017" y="-5443441"/>
            <a:ext cx="9637596" cy="9637596"/>
          </a:xfrm>
          <a:custGeom>
            <a:avLst/>
            <a:gdLst/>
            <a:ahLst/>
            <a:cxnLst/>
            <a:rect r="r" b="b" t="t" l="l"/>
            <a:pathLst>
              <a:path h="9637596" w="9637596">
                <a:moveTo>
                  <a:pt x="0" y="0"/>
                </a:moveTo>
                <a:lnTo>
                  <a:pt x="9637596" y="0"/>
                </a:lnTo>
                <a:lnTo>
                  <a:pt x="9637596" y="9637596"/>
                </a:lnTo>
                <a:lnTo>
                  <a:pt x="0" y="9637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20188">
            <a:off x="15303250" y="4766154"/>
            <a:ext cx="6912272" cy="5931424"/>
          </a:xfrm>
          <a:custGeom>
            <a:avLst/>
            <a:gdLst/>
            <a:ahLst/>
            <a:cxnLst/>
            <a:rect r="r" b="b" t="t" l="l"/>
            <a:pathLst>
              <a:path h="5931424" w="6912272">
                <a:moveTo>
                  <a:pt x="0" y="0"/>
                </a:moveTo>
                <a:lnTo>
                  <a:pt x="6912272" y="0"/>
                </a:lnTo>
                <a:lnTo>
                  <a:pt x="6912272" y="5931424"/>
                </a:lnTo>
                <a:lnTo>
                  <a:pt x="0" y="59314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825994">
            <a:off x="14274163" y="1439523"/>
            <a:ext cx="6104738" cy="2666226"/>
          </a:xfrm>
          <a:custGeom>
            <a:avLst/>
            <a:gdLst/>
            <a:ahLst/>
            <a:cxnLst/>
            <a:rect r="r" b="b" t="t" l="l"/>
            <a:pathLst>
              <a:path h="2666226" w="6104738">
                <a:moveTo>
                  <a:pt x="6104739" y="0"/>
                </a:moveTo>
                <a:lnTo>
                  <a:pt x="0" y="0"/>
                </a:lnTo>
                <a:lnTo>
                  <a:pt x="0" y="2666226"/>
                </a:lnTo>
                <a:lnTo>
                  <a:pt x="6104739" y="2666226"/>
                </a:lnTo>
                <a:lnTo>
                  <a:pt x="6104739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41524" y="3289686"/>
            <a:ext cx="7801327" cy="90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2"/>
              </a:lnSpc>
              <a:spcBef>
                <a:spcPct val="0"/>
              </a:spcBef>
            </a:pPr>
            <a:r>
              <a:rPr lang="en-US" sz="5265">
                <a:solidFill>
                  <a:srgbClr val="EED3FF"/>
                </a:solidFill>
                <a:latin typeface="Zen Dots"/>
                <a:ea typeface="Zen Dots"/>
                <a:cs typeface="Zen Dots"/>
                <a:sym typeface="Zen Dots"/>
              </a:rPr>
              <a:t>OBJECTIVE</a:t>
            </a:r>
          </a:p>
        </p:txBody>
      </p:sp>
      <p:sp>
        <p:nvSpPr>
          <p:cNvPr name="Freeform 8" id="8"/>
          <p:cNvSpPr/>
          <p:nvPr/>
        </p:nvSpPr>
        <p:spPr>
          <a:xfrm flipH="false" flipV="true" rot="920133">
            <a:off x="-299946" y="-1714325"/>
            <a:ext cx="6393249" cy="5486050"/>
          </a:xfrm>
          <a:custGeom>
            <a:avLst/>
            <a:gdLst/>
            <a:ahLst/>
            <a:cxnLst/>
            <a:rect r="r" b="b" t="t" l="l"/>
            <a:pathLst>
              <a:path h="5486050" w="6393249">
                <a:moveTo>
                  <a:pt x="0" y="5486050"/>
                </a:moveTo>
                <a:lnTo>
                  <a:pt x="6393249" y="5486050"/>
                </a:lnTo>
                <a:lnTo>
                  <a:pt x="6393249" y="0"/>
                </a:lnTo>
                <a:lnTo>
                  <a:pt x="0" y="0"/>
                </a:lnTo>
                <a:lnTo>
                  <a:pt x="0" y="548605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920133">
            <a:off x="6473111" y="-3984788"/>
            <a:ext cx="7824235" cy="6713981"/>
          </a:xfrm>
          <a:custGeom>
            <a:avLst/>
            <a:gdLst/>
            <a:ahLst/>
            <a:cxnLst/>
            <a:rect r="r" b="b" t="t" l="l"/>
            <a:pathLst>
              <a:path h="6713981" w="7824235">
                <a:moveTo>
                  <a:pt x="0" y="6713980"/>
                </a:moveTo>
                <a:lnTo>
                  <a:pt x="7824235" y="6713980"/>
                </a:lnTo>
                <a:lnTo>
                  <a:pt x="7824235" y="0"/>
                </a:lnTo>
                <a:lnTo>
                  <a:pt x="0" y="0"/>
                </a:lnTo>
                <a:lnTo>
                  <a:pt x="0" y="671398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8703" y="765262"/>
            <a:ext cx="664953" cy="619011"/>
          </a:xfrm>
          <a:custGeom>
            <a:avLst/>
            <a:gdLst/>
            <a:ahLst/>
            <a:cxnLst/>
            <a:rect r="r" b="b" t="t" l="l"/>
            <a:pathLst>
              <a:path h="619011" w="664953">
                <a:moveTo>
                  <a:pt x="0" y="0"/>
                </a:moveTo>
                <a:lnTo>
                  <a:pt x="664954" y="0"/>
                </a:lnTo>
                <a:lnTo>
                  <a:pt x="664954" y="619011"/>
                </a:lnTo>
                <a:lnTo>
                  <a:pt x="0" y="6190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38438">
            <a:off x="-1600541" y="2545069"/>
            <a:ext cx="8715565" cy="7028681"/>
          </a:xfrm>
          <a:custGeom>
            <a:avLst/>
            <a:gdLst/>
            <a:ahLst/>
            <a:cxnLst/>
            <a:rect r="r" b="b" t="t" l="l"/>
            <a:pathLst>
              <a:path h="7028681" w="8715565">
                <a:moveTo>
                  <a:pt x="0" y="0"/>
                </a:moveTo>
                <a:lnTo>
                  <a:pt x="8715564" y="0"/>
                </a:lnTo>
                <a:lnTo>
                  <a:pt x="8715564" y="7028681"/>
                </a:lnTo>
                <a:lnTo>
                  <a:pt x="0" y="70286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241524" y="5095875"/>
            <a:ext cx="8238562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spc="2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 AI-powered Streamlit app where users upload a CSV and interact with a smart assistant to:</a:t>
            </a:r>
          </a:p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sz="2099" spc="2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Clean data automatically</a:t>
            </a:r>
          </a:p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sz="2099" spc="2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Perform exploratory data analysis (EDA)</a:t>
            </a:r>
          </a:p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sz="2099" spc="2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Train models based on user input (classification/regression)</a:t>
            </a:r>
          </a:p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sz="2099" spc="2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Compare model performances</a:t>
            </a:r>
          </a:p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sz="2099" spc="2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Download the updated data</a:t>
            </a:r>
          </a:p>
          <a:p>
            <a:pPr algn="l">
              <a:lnSpc>
                <a:spcPts val="293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236925" y="922959"/>
            <a:ext cx="3252132" cy="31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1792">
                <a:solidFill>
                  <a:srgbClr val="F2E8FF"/>
                </a:solidFill>
                <a:latin typeface="Zen Dots"/>
                <a:ea typeface="Zen Dots"/>
                <a:cs typeface="Zen Dots"/>
                <a:sym typeface="Zen Dots"/>
              </a:rPr>
              <a:t>STUDIO SHODWE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9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96338" y="2525005"/>
            <a:ext cx="10670738" cy="10670738"/>
          </a:xfrm>
          <a:custGeom>
            <a:avLst/>
            <a:gdLst/>
            <a:ahLst/>
            <a:cxnLst/>
            <a:rect r="r" b="b" t="t" l="l"/>
            <a:pathLst>
              <a:path h="10670738" w="10670738">
                <a:moveTo>
                  <a:pt x="0" y="0"/>
                </a:moveTo>
                <a:lnTo>
                  <a:pt x="10670738" y="0"/>
                </a:lnTo>
                <a:lnTo>
                  <a:pt x="10670738" y="10670738"/>
                </a:lnTo>
                <a:lnTo>
                  <a:pt x="0" y="10670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28239" y="1492043"/>
            <a:ext cx="8397872" cy="8397872"/>
          </a:xfrm>
          <a:custGeom>
            <a:avLst/>
            <a:gdLst/>
            <a:ahLst/>
            <a:cxnLst/>
            <a:rect r="r" b="b" t="t" l="l"/>
            <a:pathLst>
              <a:path h="8397872" w="8397872">
                <a:moveTo>
                  <a:pt x="0" y="0"/>
                </a:moveTo>
                <a:lnTo>
                  <a:pt x="8397871" y="0"/>
                </a:lnTo>
                <a:lnTo>
                  <a:pt x="8397871" y="8397871"/>
                </a:lnTo>
                <a:lnTo>
                  <a:pt x="0" y="83978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7640360" y="82512"/>
            <a:ext cx="12013438" cy="8229600"/>
          </a:xfrm>
          <a:custGeom>
            <a:avLst/>
            <a:gdLst/>
            <a:ahLst/>
            <a:cxnLst/>
            <a:rect r="r" b="b" t="t" l="l"/>
            <a:pathLst>
              <a:path h="8229600" w="12013438">
                <a:moveTo>
                  <a:pt x="12013438" y="0"/>
                </a:moveTo>
                <a:lnTo>
                  <a:pt x="0" y="0"/>
                </a:lnTo>
                <a:lnTo>
                  <a:pt x="0" y="8229600"/>
                </a:lnTo>
                <a:lnTo>
                  <a:pt x="12013438" y="8229600"/>
                </a:lnTo>
                <a:lnTo>
                  <a:pt x="1201343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73390" y="8247734"/>
            <a:ext cx="8397872" cy="8397872"/>
          </a:xfrm>
          <a:custGeom>
            <a:avLst/>
            <a:gdLst/>
            <a:ahLst/>
            <a:cxnLst/>
            <a:rect r="r" b="b" t="t" l="l"/>
            <a:pathLst>
              <a:path h="8397872" w="8397872">
                <a:moveTo>
                  <a:pt x="0" y="0"/>
                </a:moveTo>
                <a:lnTo>
                  <a:pt x="8397871" y="0"/>
                </a:lnTo>
                <a:lnTo>
                  <a:pt x="8397871" y="8397872"/>
                </a:lnTo>
                <a:lnTo>
                  <a:pt x="0" y="8397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18368" y="1833058"/>
            <a:ext cx="8397872" cy="8397872"/>
          </a:xfrm>
          <a:custGeom>
            <a:avLst/>
            <a:gdLst/>
            <a:ahLst/>
            <a:cxnLst/>
            <a:rect r="r" b="b" t="t" l="l"/>
            <a:pathLst>
              <a:path h="8397872" w="8397872">
                <a:moveTo>
                  <a:pt x="0" y="0"/>
                </a:moveTo>
                <a:lnTo>
                  <a:pt x="8397871" y="0"/>
                </a:lnTo>
                <a:lnTo>
                  <a:pt x="8397871" y="8397871"/>
                </a:lnTo>
                <a:lnTo>
                  <a:pt x="0" y="83978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90593" y="18134"/>
            <a:ext cx="12013438" cy="8229600"/>
          </a:xfrm>
          <a:custGeom>
            <a:avLst/>
            <a:gdLst/>
            <a:ahLst/>
            <a:cxnLst/>
            <a:rect r="r" b="b" t="t" l="l"/>
            <a:pathLst>
              <a:path h="8229600" w="12013438">
                <a:moveTo>
                  <a:pt x="0" y="0"/>
                </a:moveTo>
                <a:lnTo>
                  <a:pt x="12013437" y="0"/>
                </a:lnTo>
                <a:lnTo>
                  <a:pt x="1201343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94836" y="-6998868"/>
            <a:ext cx="10298328" cy="10298328"/>
          </a:xfrm>
          <a:custGeom>
            <a:avLst/>
            <a:gdLst/>
            <a:ahLst/>
            <a:cxnLst/>
            <a:rect r="r" b="b" t="t" l="l"/>
            <a:pathLst>
              <a:path h="10298328" w="10298328">
                <a:moveTo>
                  <a:pt x="0" y="0"/>
                </a:moveTo>
                <a:lnTo>
                  <a:pt x="10298328" y="0"/>
                </a:lnTo>
                <a:lnTo>
                  <a:pt x="10298328" y="10298328"/>
                </a:lnTo>
                <a:lnTo>
                  <a:pt x="0" y="102983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757497" y="6809770"/>
            <a:ext cx="8321075" cy="7096865"/>
          </a:xfrm>
          <a:custGeom>
            <a:avLst/>
            <a:gdLst/>
            <a:ahLst/>
            <a:cxnLst/>
            <a:rect r="r" b="b" t="t" l="l"/>
            <a:pathLst>
              <a:path h="7096865" w="8321075">
                <a:moveTo>
                  <a:pt x="0" y="0"/>
                </a:moveTo>
                <a:lnTo>
                  <a:pt x="8321075" y="0"/>
                </a:lnTo>
                <a:lnTo>
                  <a:pt x="8321075" y="7096865"/>
                </a:lnTo>
                <a:lnTo>
                  <a:pt x="0" y="7096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3790593" y="7104247"/>
            <a:ext cx="8321075" cy="7096865"/>
          </a:xfrm>
          <a:custGeom>
            <a:avLst/>
            <a:gdLst/>
            <a:ahLst/>
            <a:cxnLst/>
            <a:rect r="r" b="b" t="t" l="l"/>
            <a:pathLst>
              <a:path h="7096865" w="8321075">
                <a:moveTo>
                  <a:pt x="8321075" y="0"/>
                </a:moveTo>
                <a:lnTo>
                  <a:pt x="0" y="0"/>
                </a:lnTo>
                <a:lnTo>
                  <a:pt x="0" y="7096866"/>
                </a:lnTo>
                <a:lnTo>
                  <a:pt x="8321075" y="7096866"/>
                </a:lnTo>
                <a:lnTo>
                  <a:pt x="8321075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200529" y="-492128"/>
            <a:ext cx="11620961" cy="11271256"/>
          </a:xfrm>
          <a:custGeom>
            <a:avLst/>
            <a:gdLst/>
            <a:ahLst/>
            <a:cxnLst/>
            <a:rect r="r" b="b" t="t" l="l"/>
            <a:pathLst>
              <a:path h="11271256" w="11620961">
                <a:moveTo>
                  <a:pt x="0" y="0"/>
                </a:moveTo>
                <a:lnTo>
                  <a:pt x="11620961" y="0"/>
                </a:lnTo>
                <a:lnTo>
                  <a:pt x="11620961" y="11271256"/>
                </a:lnTo>
                <a:lnTo>
                  <a:pt x="0" y="112712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9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9918" y="8382460"/>
            <a:ext cx="19567836" cy="7386858"/>
          </a:xfrm>
          <a:custGeom>
            <a:avLst/>
            <a:gdLst/>
            <a:ahLst/>
            <a:cxnLst/>
            <a:rect r="r" b="b" t="t" l="l"/>
            <a:pathLst>
              <a:path h="7386858" w="19567836">
                <a:moveTo>
                  <a:pt x="0" y="0"/>
                </a:moveTo>
                <a:lnTo>
                  <a:pt x="19567836" y="0"/>
                </a:lnTo>
                <a:lnTo>
                  <a:pt x="19567836" y="7386858"/>
                </a:lnTo>
                <a:lnTo>
                  <a:pt x="0" y="73868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07614" y="0"/>
            <a:ext cx="10670738" cy="10670738"/>
          </a:xfrm>
          <a:custGeom>
            <a:avLst/>
            <a:gdLst/>
            <a:ahLst/>
            <a:cxnLst/>
            <a:rect r="r" b="b" t="t" l="l"/>
            <a:pathLst>
              <a:path h="10670738" w="10670738">
                <a:moveTo>
                  <a:pt x="0" y="0"/>
                </a:moveTo>
                <a:lnTo>
                  <a:pt x="10670738" y="0"/>
                </a:lnTo>
                <a:lnTo>
                  <a:pt x="10670738" y="10670738"/>
                </a:lnTo>
                <a:lnTo>
                  <a:pt x="0" y="10670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20133">
            <a:off x="-834477" y="-1931734"/>
            <a:ext cx="6393249" cy="5486050"/>
          </a:xfrm>
          <a:custGeom>
            <a:avLst/>
            <a:gdLst/>
            <a:ahLst/>
            <a:cxnLst/>
            <a:rect r="r" b="b" t="t" l="l"/>
            <a:pathLst>
              <a:path h="5486050" w="6393249">
                <a:moveTo>
                  <a:pt x="0" y="5486050"/>
                </a:moveTo>
                <a:lnTo>
                  <a:pt x="6393248" y="5486050"/>
                </a:lnTo>
                <a:lnTo>
                  <a:pt x="6393248" y="0"/>
                </a:lnTo>
                <a:lnTo>
                  <a:pt x="0" y="0"/>
                </a:lnTo>
                <a:lnTo>
                  <a:pt x="0" y="548605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32162" y="2820992"/>
            <a:ext cx="830848" cy="830848"/>
          </a:xfrm>
          <a:custGeom>
            <a:avLst/>
            <a:gdLst/>
            <a:ahLst/>
            <a:cxnLst/>
            <a:rect r="r" b="b" t="t" l="l"/>
            <a:pathLst>
              <a:path h="830848" w="830848">
                <a:moveTo>
                  <a:pt x="0" y="0"/>
                </a:moveTo>
                <a:lnTo>
                  <a:pt x="830849" y="0"/>
                </a:lnTo>
                <a:lnTo>
                  <a:pt x="830849" y="830849"/>
                </a:lnTo>
                <a:lnTo>
                  <a:pt x="0" y="8308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509" y="-70615"/>
            <a:ext cx="18192982" cy="217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0"/>
              </a:lnSpc>
              <a:spcBef>
                <a:spcPct val="0"/>
              </a:spcBef>
            </a:pPr>
            <a:r>
              <a:rPr lang="en-US" sz="6257">
                <a:solidFill>
                  <a:srgbClr val="EED3FF"/>
                </a:solidFill>
                <a:latin typeface="Zen Dots"/>
                <a:ea typeface="Zen Dots"/>
                <a:cs typeface="Zen Dots"/>
                <a:sym typeface="Zen Dots"/>
              </a:rPr>
              <a:t>CORE COMPONENTS BREAK DOWN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5954877" y="2704761"/>
            <a:ext cx="9017536" cy="9017536"/>
          </a:xfrm>
          <a:custGeom>
            <a:avLst/>
            <a:gdLst/>
            <a:ahLst/>
            <a:cxnLst/>
            <a:rect r="r" b="b" t="t" l="l"/>
            <a:pathLst>
              <a:path h="9017536" w="9017536">
                <a:moveTo>
                  <a:pt x="0" y="0"/>
                </a:moveTo>
                <a:lnTo>
                  <a:pt x="9017536" y="0"/>
                </a:lnTo>
                <a:lnTo>
                  <a:pt x="9017536" y="9017536"/>
                </a:lnTo>
                <a:lnTo>
                  <a:pt x="0" y="90175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20188">
            <a:off x="15065856" y="270704"/>
            <a:ext cx="6912272" cy="5931424"/>
          </a:xfrm>
          <a:custGeom>
            <a:avLst/>
            <a:gdLst/>
            <a:ahLst/>
            <a:cxnLst/>
            <a:rect r="r" b="b" t="t" l="l"/>
            <a:pathLst>
              <a:path h="5931424" w="6912272">
                <a:moveTo>
                  <a:pt x="0" y="0"/>
                </a:moveTo>
                <a:lnTo>
                  <a:pt x="6912272" y="0"/>
                </a:lnTo>
                <a:lnTo>
                  <a:pt x="6912272" y="5931425"/>
                </a:lnTo>
                <a:lnTo>
                  <a:pt x="0" y="5931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920133">
            <a:off x="6307617" y="-4078083"/>
            <a:ext cx="7824235" cy="6713981"/>
          </a:xfrm>
          <a:custGeom>
            <a:avLst/>
            <a:gdLst/>
            <a:ahLst/>
            <a:cxnLst/>
            <a:rect r="r" b="b" t="t" l="l"/>
            <a:pathLst>
              <a:path h="6713981" w="7824235">
                <a:moveTo>
                  <a:pt x="0" y="6713981"/>
                </a:moveTo>
                <a:lnTo>
                  <a:pt x="7824235" y="6713981"/>
                </a:lnTo>
                <a:lnTo>
                  <a:pt x="7824235" y="0"/>
                </a:lnTo>
                <a:lnTo>
                  <a:pt x="0" y="0"/>
                </a:lnTo>
                <a:lnTo>
                  <a:pt x="0" y="671398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168164">
            <a:off x="-1928685" y="5549253"/>
            <a:ext cx="5524793" cy="2412937"/>
          </a:xfrm>
          <a:custGeom>
            <a:avLst/>
            <a:gdLst/>
            <a:ahLst/>
            <a:cxnLst/>
            <a:rect r="r" b="b" t="t" l="l"/>
            <a:pathLst>
              <a:path h="2412937" w="5524793">
                <a:moveTo>
                  <a:pt x="0" y="0"/>
                </a:moveTo>
                <a:lnTo>
                  <a:pt x="5524793" y="0"/>
                </a:lnTo>
                <a:lnTo>
                  <a:pt x="5524793" y="2412937"/>
                </a:lnTo>
                <a:lnTo>
                  <a:pt x="0" y="24129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559085" y="2957260"/>
            <a:ext cx="177002" cy="52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3"/>
              </a:lnSpc>
              <a:spcBef>
                <a:spcPct val="0"/>
              </a:spcBef>
            </a:pPr>
            <a:r>
              <a:rPr lang="en-US" sz="3116">
                <a:solidFill>
                  <a:srgbClr val="EED3FF"/>
                </a:solidFill>
                <a:latin typeface="Zen Dots"/>
                <a:ea typeface="Zen Dots"/>
                <a:cs typeface="Zen Dots"/>
                <a:sym typeface="Zen Dots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92760" y="2976310"/>
            <a:ext cx="13095240" cy="638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2584" spc="142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  app.py ( Main User Interface)</a:t>
            </a:r>
          </a:p>
          <a:p>
            <a:pPr algn="ctr">
              <a:lnSpc>
                <a:spcPts val="3618"/>
              </a:lnSpc>
            </a:pP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Displays the Streamlit interface: file uploader, query box, buttons.</a:t>
            </a: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Accepts a query like “clean the data” or “train model on age”.</a:t>
            </a: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Passes your CSV and query to the handle_query() function.</a:t>
            </a: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Stores session data in memory (st.session_state), such as: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Raw and cleaned DataFrame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Model results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Task type (regression/classification)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Memory of recent queries</a:t>
            </a:r>
          </a:p>
          <a:p>
            <a:pPr algn="l">
              <a:lnSpc>
                <a:spcPts val="3618"/>
              </a:lnSpc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Key triggers:</a:t>
            </a: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handle_query(query, df) → routes query to the correct agent</a:t>
            </a: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update_memory(query) → tracks recent query history</a:t>
            </a:r>
          </a:p>
          <a:p>
            <a:pPr algn="l">
              <a:lnSpc>
                <a:spcPts val="361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9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9918" y="8382460"/>
            <a:ext cx="19567836" cy="7386858"/>
          </a:xfrm>
          <a:custGeom>
            <a:avLst/>
            <a:gdLst/>
            <a:ahLst/>
            <a:cxnLst/>
            <a:rect r="r" b="b" t="t" l="l"/>
            <a:pathLst>
              <a:path h="7386858" w="19567836">
                <a:moveTo>
                  <a:pt x="0" y="0"/>
                </a:moveTo>
                <a:lnTo>
                  <a:pt x="19567836" y="0"/>
                </a:lnTo>
                <a:lnTo>
                  <a:pt x="19567836" y="7386858"/>
                </a:lnTo>
                <a:lnTo>
                  <a:pt x="0" y="73868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07614" y="0"/>
            <a:ext cx="10670738" cy="10670738"/>
          </a:xfrm>
          <a:custGeom>
            <a:avLst/>
            <a:gdLst/>
            <a:ahLst/>
            <a:cxnLst/>
            <a:rect r="r" b="b" t="t" l="l"/>
            <a:pathLst>
              <a:path h="10670738" w="10670738">
                <a:moveTo>
                  <a:pt x="0" y="0"/>
                </a:moveTo>
                <a:lnTo>
                  <a:pt x="10670738" y="0"/>
                </a:lnTo>
                <a:lnTo>
                  <a:pt x="10670738" y="10670738"/>
                </a:lnTo>
                <a:lnTo>
                  <a:pt x="0" y="10670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20133">
            <a:off x="-834477" y="-1931734"/>
            <a:ext cx="6393249" cy="5486050"/>
          </a:xfrm>
          <a:custGeom>
            <a:avLst/>
            <a:gdLst/>
            <a:ahLst/>
            <a:cxnLst/>
            <a:rect r="r" b="b" t="t" l="l"/>
            <a:pathLst>
              <a:path h="5486050" w="6393249">
                <a:moveTo>
                  <a:pt x="0" y="5486050"/>
                </a:moveTo>
                <a:lnTo>
                  <a:pt x="6393248" y="5486050"/>
                </a:lnTo>
                <a:lnTo>
                  <a:pt x="6393248" y="0"/>
                </a:lnTo>
                <a:lnTo>
                  <a:pt x="0" y="0"/>
                </a:lnTo>
                <a:lnTo>
                  <a:pt x="0" y="548605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32162" y="2820992"/>
            <a:ext cx="830848" cy="830848"/>
          </a:xfrm>
          <a:custGeom>
            <a:avLst/>
            <a:gdLst/>
            <a:ahLst/>
            <a:cxnLst/>
            <a:rect r="r" b="b" t="t" l="l"/>
            <a:pathLst>
              <a:path h="830848" w="830848">
                <a:moveTo>
                  <a:pt x="0" y="0"/>
                </a:moveTo>
                <a:lnTo>
                  <a:pt x="830849" y="0"/>
                </a:lnTo>
                <a:lnTo>
                  <a:pt x="830849" y="830849"/>
                </a:lnTo>
                <a:lnTo>
                  <a:pt x="0" y="8308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509" y="-70615"/>
            <a:ext cx="18192982" cy="217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0"/>
              </a:lnSpc>
              <a:spcBef>
                <a:spcPct val="0"/>
              </a:spcBef>
            </a:pPr>
            <a:r>
              <a:rPr lang="en-US" sz="6257">
                <a:solidFill>
                  <a:srgbClr val="EED3FF"/>
                </a:solidFill>
                <a:latin typeface="Zen Dots"/>
                <a:ea typeface="Zen Dots"/>
                <a:cs typeface="Zen Dots"/>
                <a:sym typeface="Zen Dots"/>
              </a:rPr>
              <a:t>CORE COMPONENTS BREAK DOWN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5954877" y="2704761"/>
            <a:ext cx="9017536" cy="9017536"/>
          </a:xfrm>
          <a:custGeom>
            <a:avLst/>
            <a:gdLst/>
            <a:ahLst/>
            <a:cxnLst/>
            <a:rect r="r" b="b" t="t" l="l"/>
            <a:pathLst>
              <a:path h="9017536" w="9017536">
                <a:moveTo>
                  <a:pt x="0" y="0"/>
                </a:moveTo>
                <a:lnTo>
                  <a:pt x="9017536" y="0"/>
                </a:lnTo>
                <a:lnTo>
                  <a:pt x="9017536" y="9017536"/>
                </a:lnTo>
                <a:lnTo>
                  <a:pt x="0" y="90175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20188">
            <a:off x="15065856" y="270704"/>
            <a:ext cx="6912272" cy="5931424"/>
          </a:xfrm>
          <a:custGeom>
            <a:avLst/>
            <a:gdLst/>
            <a:ahLst/>
            <a:cxnLst/>
            <a:rect r="r" b="b" t="t" l="l"/>
            <a:pathLst>
              <a:path h="5931424" w="6912272">
                <a:moveTo>
                  <a:pt x="0" y="0"/>
                </a:moveTo>
                <a:lnTo>
                  <a:pt x="6912272" y="0"/>
                </a:lnTo>
                <a:lnTo>
                  <a:pt x="6912272" y="5931425"/>
                </a:lnTo>
                <a:lnTo>
                  <a:pt x="0" y="5931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920133">
            <a:off x="6307617" y="-4078083"/>
            <a:ext cx="7824235" cy="6713981"/>
          </a:xfrm>
          <a:custGeom>
            <a:avLst/>
            <a:gdLst/>
            <a:ahLst/>
            <a:cxnLst/>
            <a:rect r="r" b="b" t="t" l="l"/>
            <a:pathLst>
              <a:path h="6713981" w="7824235">
                <a:moveTo>
                  <a:pt x="0" y="6713981"/>
                </a:moveTo>
                <a:lnTo>
                  <a:pt x="7824235" y="6713981"/>
                </a:lnTo>
                <a:lnTo>
                  <a:pt x="7824235" y="0"/>
                </a:lnTo>
                <a:lnTo>
                  <a:pt x="0" y="0"/>
                </a:lnTo>
                <a:lnTo>
                  <a:pt x="0" y="671398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77760" y="2940271"/>
            <a:ext cx="339653" cy="52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3"/>
              </a:lnSpc>
              <a:spcBef>
                <a:spcPct val="0"/>
              </a:spcBef>
            </a:pPr>
            <a:r>
              <a:rPr lang="en-US" sz="3116">
                <a:solidFill>
                  <a:srgbClr val="EED3FF"/>
                </a:solidFill>
                <a:latin typeface="Zen Dots"/>
                <a:ea typeface="Zen Dots"/>
                <a:cs typeface="Zen Dots"/>
                <a:sym typeface="Zen Dots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92760" y="2976310"/>
            <a:ext cx="13095240" cy="4096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query_manager.py</a:t>
            </a:r>
          </a:p>
          <a:p>
            <a:pPr algn="l">
              <a:lnSpc>
                <a:spcPts val="3618"/>
              </a:lnSpc>
            </a:pP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Parses your natural language query to detect: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"clean" → runs clean_data() from cleaning.py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"eda", "explore" → runs generate_auto_eda() from eda.py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"predict", "train" → runs train_model() from train.py</a:t>
            </a: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Uses regex to extract the target column from phrases like: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“predict age”, “train model on income”</a:t>
            </a:r>
          </a:p>
          <a:p>
            <a:pPr algn="l">
              <a:lnSpc>
                <a:spcPts val="3618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1133314" y="1923966"/>
            <a:ext cx="7303716" cy="8363034"/>
          </a:xfrm>
          <a:custGeom>
            <a:avLst/>
            <a:gdLst/>
            <a:ahLst/>
            <a:cxnLst/>
            <a:rect r="r" b="b" t="t" l="l"/>
            <a:pathLst>
              <a:path h="8363034" w="7303716">
                <a:moveTo>
                  <a:pt x="0" y="0"/>
                </a:moveTo>
                <a:lnTo>
                  <a:pt x="7303717" y="0"/>
                </a:lnTo>
                <a:lnTo>
                  <a:pt x="7303717" y="8363034"/>
                </a:lnTo>
                <a:lnTo>
                  <a:pt x="0" y="83630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9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9918" y="8382460"/>
            <a:ext cx="19567836" cy="7386858"/>
          </a:xfrm>
          <a:custGeom>
            <a:avLst/>
            <a:gdLst/>
            <a:ahLst/>
            <a:cxnLst/>
            <a:rect r="r" b="b" t="t" l="l"/>
            <a:pathLst>
              <a:path h="7386858" w="19567836">
                <a:moveTo>
                  <a:pt x="0" y="0"/>
                </a:moveTo>
                <a:lnTo>
                  <a:pt x="19567836" y="0"/>
                </a:lnTo>
                <a:lnTo>
                  <a:pt x="19567836" y="7386858"/>
                </a:lnTo>
                <a:lnTo>
                  <a:pt x="0" y="73868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06668" y="53210"/>
            <a:ext cx="10670738" cy="10670738"/>
          </a:xfrm>
          <a:custGeom>
            <a:avLst/>
            <a:gdLst/>
            <a:ahLst/>
            <a:cxnLst/>
            <a:rect r="r" b="b" t="t" l="l"/>
            <a:pathLst>
              <a:path h="10670738" w="10670738">
                <a:moveTo>
                  <a:pt x="0" y="0"/>
                </a:moveTo>
                <a:lnTo>
                  <a:pt x="10670738" y="0"/>
                </a:lnTo>
                <a:lnTo>
                  <a:pt x="10670738" y="10670738"/>
                </a:lnTo>
                <a:lnTo>
                  <a:pt x="0" y="10670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20133">
            <a:off x="-834477" y="-1931734"/>
            <a:ext cx="6393249" cy="5486050"/>
          </a:xfrm>
          <a:custGeom>
            <a:avLst/>
            <a:gdLst/>
            <a:ahLst/>
            <a:cxnLst/>
            <a:rect r="r" b="b" t="t" l="l"/>
            <a:pathLst>
              <a:path h="5486050" w="6393249">
                <a:moveTo>
                  <a:pt x="0" y="5486050"/>
                </a:moveTo>
                <a:lnTo>
                  <a:pt x="6393248" y="5486050"/>
                </a:lnTo>
                <a:lnTo>
                  <a:pt x="6393248" y="0"/>
                </a:lnTo>
                <a:lnTo>
                  <a:pt x="0" y="0"/>
                </a:lnTo>
                <a:lnTo>
                  <a:pt x="0" y="548605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1216" y="2874202"/>
            <a:ext cx="830848" cy="830848"/>
          </a:xfrm>
          <a:custGeom>
            <a:avLst/>
            <a:gdLst/>
            <a:ahLst/>
            <a:cxnLst/>
            <a:rect r="r" b="b" t="t" l="l"/>
            <a:pathLst>
              <a:path h="830848" w="830848">
                <a:moveTo>
                  <a:pt x="0" y="0"/>
                </a:moveTo>
                <a:lnTo>
                  <a:pt x="830848" y="0"/>
                </a:lnTo>
                <a:lnTo>
                  <a:pt x="830848" y="830849"/>
                </a:lnTo>
                <a:lnTo>
                  <a:pt x="0" y="8308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509" y="-70615"/>
            <a:ext cx="18192982" cy="217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0"/>
              </a:lnSpc>
              <a:spcBef>
                <a:spcPct val="0"/>
              </a:spcBef>
            </a:pPr>
            <a:r>
              <a:rPr lang="en-US" sz="6257">
                <a:solidFill>
                  <a:srgbClr val="EED3FF"/>
                </a:solidFill>
                <a:latin typeface="Zen Dots"/>
                <a:ea typeface="Zen Dots"/>
                <a:cs typeface="Zen Dots"/>
                <a:sym typeface="Zen Dots"/>
              </a:rPr>
              <a:t>CORE COMPONENTS BREAK DOWN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5610868" y="4111184"/>
            <a:ext cx="9017536" cy="9017536"/>
          </a:xfrm>
          <a:custGeom>
            <a:avLst/>
            <a:gdLst/>
            <a:ahLst/>
            <a:cxnLst/>
            <a:rect r="r" b="b" t="t" l="l"/>
            <a:pathLst>
              <a:path h="9017536" w="9017536">
                <a:moveTo>
                  <a:pt x="0" y="0"/>
                </a:moveTo>
                <a:lnTo>
                  <a:pt x="9017536" y="0"/>
                </a:lnTo>
                <a:lnTo>
                  <a:pt x="9017536" y="9017536"/>
                </a:lnTo>
                <a:lnTo>
                  <a:pt x="0" y="90175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20188">
            <a:off x="15065856" y="270704"/>
            <a:ext cx="6912272" cy="5931424"/>
          </a:xfrm>
          <a:custGeom>
            <a:avLst/>
            <a:gdLst/>
            <a:ahLst/>
            <a:cxnLst/>
            <a:rect r="r" b="b" t="t" l="l"/>
            <a:pathLst>
              <a:path h="5931424" w="6912272">
                <a:moveTo>
                  <a:pt x="0" y="0"/>
                </a:moveTo>
                <a:lnTo>
                  <a:pt x="6912272" y="0"/>
                </a:lnTo>
                <a:lnTo>
                  <a:pt x="6912272" y="5931425"/>
                </a:lnTo>
                <a:lnTo>
                  <a:pt x="0" y="5931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920133">
            <a:off x="6307617" y="-4078083"/>
            <a:ext cx="7824235" cy="6713981"/>
          </a:xfrm>
          <a:custGeom>
            <a:avLst/>
            <a:gdLst/>
            <a:ahLst/>
            <a:cxnLst/>
            <a:rect r="r" b="b" t="t" l="l"/>
            <a:pathLst>
              <a:path h="6713981" w="7824235">
                <a:moveTo>
                  <a:pt x="0" y="6713981"/>
                </a:moveTo>
                <a:lnTo>
                  <a:pt x="7824235" y="6713981"/>
                </a:lnTo>
                <a:lnTo>
                  <a:pt x="7824235" y="0"/>
                </a:lnTo>
                <a:lnTo>
                  <a:pt x="0" y="0"/>
                </a:lnTo>
                <a:lnTo>
                  <a:pt x="0" y="671398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6814" y="3010470"/>
            <a:ext cx="339653" cy="52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3"/>
              </a:lnSpc>
              <a:spcBef>
                <a:spcPct val="0"/>
              </a:spcBef>
            </a:pPr>
            <a:r>
              <a:rPr lang="en-US" sz="3116">
                <a:solidFill>
                  <a:srgbClr val="EED3FF"/>
                </a:solidFill>
                <a:latin typeface="Zen Dots"/>
                <a:ea typeface="Zen Dots"/>
                <a:cs typeface="Zen Dots"/>
                <a:sym typeface="Zen Dots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1814" y="3029520"/>
            <a:ext cx="10528965" cy="7754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cleaning.py</a:t>
            </a:r>
          </a:p>
          <a:p>
            <a:pPr algn="l">
              <a:lnSpc>
                <a:spcPts val="3618"/>
              </a:lnSpc>
            </a:pP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Summarizes the uploaded CSV (column types, missing values).</a:t>
            </a: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Crafts a smart prompt and sends it to the LLM (via llm_manager.py).</a:t>
            </a: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LLM replies with Python code for: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Replacing junk values with NaN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Filling missing values (median/mode)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Dropping high-missing columns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Gently removing outliers (IQR)</a:t>
            </a: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Executes that Python code safely on the DataFrame.</a:t>
            </a: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If code is invalid or data gets wiped out → reverts to original.</a:t>
            </a:r>
          </a:p>
          <a:p>
            <a:pPr algn="l">
              <a:lnSpc>
                <a:spcPts val="3618"/>
              </a:lnSpc>
            </a:pPr>
          </a:p>
          <a:p>
            <a:pPr algn="l">
              <a:lnSpc>
                <a:spcPts val="3618"/>
              </a:lnSpc>
              <a:spcBef>
                <a:spcPct val="0"/>
              </a:spcBef>
            </a:pPr>
          </a:p>
          <a:p>
            <a:pPr algn="l">
              <a:lnSpc>
                <a:spcPts val="3618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137583" y="4111184"/>
            <a:ext cx="7150417" cy="5000510"/>
          </a:xfrm>
          <a:custGeom>
            <a:avLst/>
            <a:gdLst/>
            <a:ahLst/>
            <a:cxnLst/>
            <a:rect r="r" b="b" t="t" l="l"/>
            <a:pathLst>
              <a:path h="5000510" w="7150417">
                <a:moveTo>
                  <a:pt x="0" y="0"/>
                </a:moveTo>
                <a:lnTo>
                  <a:pt x="7150417" y="0"/>
                </a:lnTo>
                <a:lnTo>
                  <a:pt x="7150417" y="5000510"/>
                </a:lnTo>
                <a:lnTo>
                  <a:pt x="0" y="50005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71615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1700970">
            <a:off x="14281567" y="1534572"/>
            <a:ext cx="4668859" cy="2039110"/>
          </a:xfrm>
          <a:custGeom>
            <a:avLst/>
            <a:gdLst/>
            <a:ahLst/>
            <a:cxnLst/>
            <a:rect r="r" b="b" t="t" l="l"/>
            <a:pathLst>
              <a:path h="2039110" w="4668859">
                <a:moveTo>
                  <a:pt x="4668859" y="0"/>
                </a:moveTo>
                <a:lnTo>
                  <a:pt x="0" y="0"/>
                </a:lnTo>
                <a:lnTo>
                  <a:pt x="0" y="2039111"/>
                </a:lnTo>
                <a:lnTo>
                  <a:pt x="4668859" y="2039111"/>
                </a:lnTo>
                <a:lnTo>
                  <a:pt x="4668859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9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9918" y="8382460"/>
            <a:ext cx="19567836" cy="7386858"/>
          </a:xfrm>
          <a:custGeom>
            <a:avLst/>
            <a:gdLst/>
            <a:ahLst/>
            <a:cxnLst/>
            <a:rect r="r" b="b" t="t" l="l"/>
            <a:pathLst>
              <a:path h="7386858" w="19567836">
                <a:moveTo>
                  <a:pt x="0" y="0"/>
                </a:moveTo>
                <a:lnTo>
                  <a:pt x="19567836" y="0"/>
                </a:lnTo>
                <a:lnTo>
                  <a:pt x="19567836" y="7386858"/>
                </a:lnTo>
                <a:lnTo>
                  <a:pt x="0" y="73868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1814" y="3029520"/>
            <a:ext cx="9382604" cy="729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eda.py</a:t>
            </a:r>
          </a:p>
          <a:p>
            <a:pPr algn="l">
              <a:lnSpc>
                <a:spcPts val="3618"/>
              </a:lnSpc>
            </a:pP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What it does: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Starts interactive EDA via Streamlit.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User picks a target column from a dropdown.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Automatically detects if the task is classification or regression.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Based on task type, it generates: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Class distribution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Skewness histograms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Boxplots, countplots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Correlation heatmaps</a:t>
            </a:r>
          </a:p>
          <a:p>
            <a:pPr algn="l" marL="558010" indent="-279005" lvl="1">
              <a:lnSpc>
                <a:spcPts val="3618"/>
              </a:lnSpc>
              <a:spcBef>
                <a:spcPct val="0"/>
              </a:spcBef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Auto-adapts visualizations based on the task type, And provide recomendations used to enhance your model for training</a:t>
            </a:r>
          </a:p>
          <a:p>
            <a:pPr algn="l">
              <a:lnSpc>
                <a:spcPts val="3618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406668" y="53210"/>
            <a:ext cx="10670738" cy="10670738"/>
          </a:xfrm>
          <a:custGeom>
            <a:avLst/>
            <a:gdLst/>
            <a:ahLst/>
            <a:cxnLst/>
            <a:rect r="r" b="b" t="t" l="l"/>
            <a:pathLst>
              <a:path h="10670738" w="10670738">
                <a:moveTo>
                  <a:pt x="0" y="0"/>
                </a:moveTo>
                <a:lnTo>
                  <a:pt x="10670738" y="0"/>
                </a:lnTo>
                <a:lnTo>
                  <a:pt x="10670738" y="10670738"/>
                </a:lnTo>
                <a:lnTo>
                  <a:pt x="0" y="10670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920133">
            <a:off x="-834477" y="-1931734"/>
            <a:ext cx="6393249" cy="5486050"/>
          </a:xfrm>
          <a:custGeom>
            <a:avLst/>
            <a:gdLst/>
            <a:ahLst/>
            <a:cxnLst/>
            <a:rect r="r" b="b" t="t" l="l"/>
            <a:pathLst>
              <a:path h="5486050" w="6393249">
                <a:moveTo>
                  <a:pt x="0" y="5486050"/>
                </a:moveTo>
                <a:lnTo>
                  <a:pt x="6393248" y="5486050"/>
                </a:lnTo>
                <a:lnTo>
                  <a:pt x="6393248" y="0"/>
                </a:lnTo>
                <a:lnTo>
                  <a:pt x="0" y="0"/>
                </a:lnTo>
                <a:lnTo>
                  <a:pt x="0" y="548605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1216" y="2874202"/>
            <a:ext cx="830848" cy="830848"/>
          </a:xfrm>
          <a:custGeom>
            <a:avLst/>
            <a:gdLst/>
            <a:ahLst/>
            <a:cxnLst/>
            <a:rect r="r" b="b" t="t" l="l"/>
            <a:pathLst>
              <a:path h="830848" w="830848">
                <a:moveTo>
                  <a:pt x="0" y="0"/>
                </a:moveTo>
                <a:lnTo>
                  <a:pt x="830848" y="0"/>
                </a:lnTo>
                <a:lnTo>
                  <a:pt x="830848" y="830849"/>
                </a:lnTo>
                <a:lnTo>
                  <a:pt x="0" y="8308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509" y="-70615"/>
            <a:ext cx="18192982" cy="217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0"/>
              </a:lnSpc>
              <a:spcBef>
                <a:spcPct val="0"/>
              </a:spcBef>
            </a:pPr>
            <a:r>
              <a:rPr lang="en-US" sz="6257">
                <a:solidFill>
                  <a:srgbClr val="EED3FF"/>
                </a:solidFill>
                <a:latin typeface="Zen Dots"/>
                <a:ea typeface="Zen Dots"/>
                <a:cs typeface="Zen Dots"/>
                <a:sym typeface="Zen Dots"/>
              </a:rPr>
              <a:t>CORE COMPONENTS BREAK DOWN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5610868" y="4111184"/>
            <a:ext cx="9017536" cy="9017536"/>
          </a:xfrm>
          <a:custGeom>
            <a:avLst/>
            <a:gdLst/>
            <a:ahLst/>
            <a:cxnLst/>
            <a:rect r="r" b="b" t="t" l="l"/>
            <a:pathLst>
              <a:path h="9017536" w="9017536">
                <a:moveTo>
                  <a:pt x="0" y="0"/>
                </a:moveTo>
                <a:lnTo>
                  <a:pt x="9017536" y="0"/>
                </a:lnTo>
                <a:lnTo>
                  <a:pt x="9017536" y="9017536"/>
                </a:lnTo>
                <a:lnTo>
                  <a:pt x="0" y="90175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20188">
            <a:off x="15065856" y="270704"/>
            <a:ext cx="6912272" cy="5931424"/>
          </a:xfrm>
          <a:custGeom>
            <a:avLst/>
            <a:gdLst/>
            <a:ahLst/>
            <a:cxnLst/>
            <a:rect r="r" b="b" t="t" l="l"/>
            <a:pathLst>
              <a:path h="5931424" w="6912272">
                <a:moveTo>
                  <a:pt x="0" y="0"/>
                </a:moveTo>
                <a:lnTo>
                  <a:pt x="6912272" y="0"/>
                </a:lnTo>
                <a:lnTo>
                  <a:pt x="6912272" y="5931425"/>
                </a:lnTo>
                <a:lnTo>
                  <a:pt x="0" y="5931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920133">
            <a:off x="6307617" y="-4078083"/>
            <a:ext cx="7824235" cy="6713981"/>
          </a:xfrm>
          <a:custGeom>
            <a:avLst/>
            <a:gdLst/>
            <a:ahLst/>
            <a:cxnLst/>
            <a:rect r="r" b="b" t="t" l="l"/>
            <a:pathLst>
              <a:path h="6713981" w="7824235">
                <a:moveTo>
                  <a:pt x="0" y="6713981"/>
                </a:moveTo>
                <a:lnTo>
                  <a:pt x="7824235" y="6713981"/>
                </a:lnTo>
                <a:lnTo>
                  <a:pt x="7824235" y="0"/>
                </a:lnTo>
                <a:lnTo>
                  <a:pt x="0" y="0"/>
                </a:lnTo>
                <a:lnTo>
                  <a:pt x="0" y="671398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19628" y="3874636"/>
            <a:ext cx="8115556" cy="6412364"/>
          </a:xfrm>
          <a:custGeom>
            <a:avLst/>
            <a:gdLst/>
            <a:ahLst/>
            <a:cxnLst/>
            <a:rect r="r" b="b" t="t" l="l"/>
            <a:pathLst>
              <a:path h="6412364" w="8115556">
                <a:moveTo>
                  <a:pt x="0" y="0"/>
                </a:moveTo>
                <a:lnTo>
                  <a:pt x="8115556" y="0"/>
                </a:lnTo>
                <a:lnTo>
                  <a:pt x="8115556" y="6412364"/>
                </a:lnTo>
                <a:lnTo>
                  <a:pt x="0" y="64123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389" t="0" r="-15884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976384">
            <a:off x="14808924" y="508359"/>
            <a:ext cx="6652520" cy="4731686"/>
          </a:xfrm>
          <a:custGeom>
            <a:avLst/>
            <a:gdLst/>
            <a:ahLst/>
            <a:cxnLst/>
            <a:rect r="r" b="b" t="t" l="l"/>
            <a:pathLst>
              <a:path h="4731686" w="6652520">
                <a:moveTo>
                  <a:pt x="0" y="0"/>
                </a:moveTo>
                <a:lnTo>
                  <a:pt x="6652520" y="0"/>
                </a:lnTo>
                <a:lnTo>
                  <a:pt x="6652520" y="4731686"/>
                </a:lnTo>
                <a:lnTo>
                  <a:pt x="0" y="47316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809" r="0" b="-80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55649" y="2940271"/>
            <a:ext cx="381983" cy="52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3"/>
              </a:lnSpc>
              <a:spcBef>
                <a:spcPct val="0"/>
              </a:spcBef>
            </a:pPr>
            <a:r>
              <a:rPr lang="en-US" sz="3116">
                <a:solidFill>
                  <a:srgbClr val="EED3FF"/>
                </a:solidFill>
                <a:latin typeface="Zen Dots"/>
                <a:ea typeface="Zen Dots"/>
                <a:cs typeface="Zen Dots"/>
                <a:sym typeface="Zen Dots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9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9918" y="8382460"/>
            <a:ext cx="19567836" cy="7386858"/>
          </a:xfrm>
          <a:custGeom>
            <a:avLst/>
            <a:gdLst/>
            <a:ahLst/>
            <a:cxnLst/>
            <a:rect r="r" b="b" t="t" l="l"/>
            <a:pathLst>
              <a:path h="7386858" w="19567836">
                <a:moveTo>
                  <a:pt x="0" y="0"/>
                </a:moveTo>
                <a:lnTo>
                  <a:pt x="19567836" y="0"/>
                </a:lnTo>
                <a:lnTo>
                  <a:pt x="19567836" y="7386858"/>
                </a:lnTo>
                <a:lnTo>
                  <a:pt x="0" y="73868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1814" y="3029520"/>
            <a:ext cx="9294868" cy="638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train.py</a:t>
            </a:r>
          </a:p>
          <a:p>
            <a:pPr algn="l">
              <a:lnSpc>
                <a:spcPts val="3618"/>
              </a:lnSpc>
            </a:pP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Detects task type (classification vs. regression).</a:t>
            </a: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Cleans the data again (via clean_data() from clean.py)</a:t>
            </a: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Splits into train/test sets (80/20).</a:t>
            </a: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Trains two models depending on task: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Classification: Logistic Regression, Random Forest Classifier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Regression: Linear Regression, Random Forest Regressor</a:t>
            </a: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Then </a:t>
            </a: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Evaluates models with appropriate metrics</a:t>
            </a:r>
          </a:p>
          <a:p>
            <a:pPr algn="l">
              <a:lnSpc>
                <a:spcPts val="3618"/>
              </a:lnSpc>
              <a:spcBef>
                <a:spcPct val="0"/>
              </a:spcBef>
            </a:pPr>
          </a:p>
          <a:p>
            <a:pPr algn="l">
              <a:lnSpc>
                <a:spcPts val="3618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920133">
            <a:off x="-834477" y="-1931734"/>
            <a:ext cx="6393249" cy="5486050"/>
          </a:xfrm>
          <a:custGeom>
            <a:avLst/>
            <a:gdLst/>
            <a:ahLst/>
            <a:cxnLst/>
            <a:rect r="r" b="b" t="t" l="l"/>
            <a:pathLst>
              <a:path h="5486050" w="6393249">
                <a:moveTo>
                  <a:pt x="0" y="5486050"/>
                </a:moveTo>
                <a:lnTo>
                  <a:pt x="6393248" y="5486050"/>
                </a:lnTo>
                <a:lnTo>
                  <a:pt x="6393248" y="0"/>
                </a:lnTo>
                <a:lnTo>
                  <a:pt x="0" y="0"/>
                </a:lnTo>
                <a:lnTo>
                  <a:pt x="0" y="5486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1216" y="2874202"/>
            <a:ext cx="830848" cy="830848"/>
          </a:xfrm>
          <a:custGeom>
            <a:avLst/>
            <a:gdLst/>
            <a:ahLst/>
            <a:cxnLst/>
            <a:rect r="r" b="b" t="t" l="l"/>
            <a:pathLst>
              <a:path h="830848" w="830848">
                <a:moveTo>
                  <a:pt x="0" y="0"/>
                </a:moveTo>
                <a:lnTo>
                  <a:pt x="830848" y="0"/>
                </a:lnTo>
                <a:lnTo>
                  <a:pt x="830848" y="830849"/>
                </a:lnTo>
                <a:lnTo>
                  <a:pt x="0" y="8308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509" y="-70615"/>
            <a:ext cx="18192982" cy="217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0"/>
              </a:lnSpc>
              <a:spcBef>
                <a:spcPct val="0"/>
              </a:spcBef>
            </a:pPr>
            <a:r>
              <a:rPr lang="en-US" sz="6257">
                <a:solidFill>
                  <a:srgbClr val="EED3FF"/>
                </a:solidFill>
                <a:latin typeface="Zen Dots"/>
                <a:ea typeface="Zen Dots"/>
                <a:cs typeface="Zen Dots"/>
                <a:sym typeface="Zen Dots"/>
              </a:rPr>
              <a:t>CORE COMPONENTS BREAK DOWN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5610868" y="4111184"/>
            <a:ext cx="9017536" cy="9017536"/>
          </a:xfrm>
          <a:custGeom>
            <a:avLst/>
            <a:gdLst/>
            <a:ahLst/>
            <a:cxnLst/>
            <a:rect r="r" b="b" t="t" l="l"/>
            <a:pathLst>
              <a:path h="9017536" w="9017536">
                <a:moveTo>
                  <a:pt x="0" y="0"/>
                </a:moveTo>
                <a:lnTo>
                  <a:pt x="9017536" y="0"/>
                </a:lnTo>
                <a:lnTo>
                  <a:pt x="9017536" y="9017536"/>
                </a:lnTo>
                <a:lnTo>
                  <a:pt x="0" y="90175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20188">
            <a:off x="15065856" y="270704"/>
            <a:ext cx="6912272" cy="5931424"/>
          </a:xfrm>
          <a:custGeom>
            <a:avLst/>
            <a:gdLst/>
            <a:ahLst/>
            <a:cxnLst/>
            <a:rect r="r" b="b" t="t" l="l"/>
            <a:pathLst>
              <a:path h="5931424" w="6912272">
                <a:moveTo>
                  <a:pt x="0" y="0"/>
                </a:moveTo>
                <a:lnTo>
                  <a:pt x="6912272" y="0"/>
                </a:lnTo>
                <a:lnTo>
                  <a:pt x="6912272" y="5931425"/>
                </a:lnTo>
                <a:lnTo>
                  <a:pt x="0" y="59314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920133">
            <a:off x="6307617" y="-4078083"/>
            <a:ext cx="7824235" cy="6713981"/>
          </a:xfrm>
          <a:custGeom>
            <a:avLst/>
            <a:gdLst/>
            <a:ahLst/>
            <a:cxnLst/>
            <a:rect r="r" b="b" t="t" l="l"/>
            <a:pathLst>
              <a:path h="6713981" w="7824235">
                <a:moveTo>
                  <a:pt x="0" y="6713981"/>
                </a:moveTo>
                <a:lnTo>
                  <a:pt x="7824235" y="6713981"/>
                </a:lnTo>
                <a:lnTo>
                  <a:pt x="7824235" y="0"/>
                </a:lnTo>
                <a:lnTo>
                  <a:pt x="0" y="0"/>
                </a:lnTo>
                <a:lnTo>
                  <a:pt x="0" y="671398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2247" y="3010470"/>
            <a:ext cx="348786" cy="52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3"/>
              </a:lnSpc>
              <a:spcBef>
                <a:spcPct val="0"/>
              </a:spcBef>
            </a:pPr>
            <a:r>
              <a:rPr lang="en-US" sz="3116">
                <a:solidFill>
                  <a:srgbClr val="EED3FF"/>
                </a:solidFill>
                <a:latin typeface="Zen Dots"/>
                <a:ea typeface="Zen Dots"/>
                <a:cs typeface="Zen Dots"/>
                <a:sym typeface="Zen Dots"/>
              </a:rPr>
              <a:t>5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635674" y="2891191"/>
            <a:ext cx="830848" cy="830848"/>
          </a:xfrm>
          <a:custGeom>
            <a:avLst/>
            <a:gdLst/>
            <a:ahLst/>
            <a:cxnLst/>
            <a:rect r="r" b="b" t="t" l="l"/>
            <a:pathLst>
              <a:path h="830848" w="830848">
                <a:moveTo>
                  <a:pt x="0" y="0"/>
                </a:moveTo>
                <a:lnTo>
                  <a:pt x="830848" y="0"/>
                </a:lnTo>
                <a:lnTo>
                  <a:pt x="830848" y="830848"/>
                </a:lnTo>
                <a:lnTo>
                  <a:pt x="0" y="830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876705" y="3010470"/>
            <a:ext cx="373720" cy="52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3"/>
              </a:lnSpc>
              <a:spcBef>
                <a:spcPct val="0"/>
              </a:spcBef>
            </a:pPr>
            <a:r>
              <a:rPr lang="en-US" sz="3116">
                <a:solidFill>
                  <a:srgbClr val="EED3FF"/>
                </a:solidFill>
                <a:latin typeface="Zen Dots"/>
                <a:ea typeface="Zen Dots"/>
                <a:cs typeface="Zen Dots"/>
                <a:sym typeface="Zen Dots"/>
              </a:rPr>
              <a:t>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86682" y="3029520"/>
            <a:ext cx="9294868" cy="5011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compare_models.py</a:t>
            </a:r>
          </a:p>
          <a:p>
            <a:pPr algn="l">
              <a:lnSpc>
                <a:spcPts val="3618"/>
              </a:lnSpc>
            </a:pP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Takes in the results_df and task_type from train.py.</a:t>
            </a: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For each metric (Accuracy, RMSE, etc.):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Plots bar chart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Highlights best model</a:t>
            </a:r>
          </a:p>
          <a:p>
            <a:pPr algn="l" marL="1116019" indent="-372006" lvl="2">
              <a:lnSpc>
                <a:spcPts val="3618"/>
              </a:lnSpc>
              <a:buFont typeface="Arial"/>
              <a:buChar char="⚬"/>
            </a:pPr>
            <a:r>
              <a:rPr lang="en-US" sz="2584" spc="1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Writes human-readable explanation</a:t>
            </a:r>
          </a:p>
          <a:p>
            <a:pPr algn="l" marL="558010" indent="-279005" lvl="1">
              <a:lnSpc>
                <a:spcPts val="3618"/>
              </a:lnSpc>
              <a:buFont typeface="Arial"/>
              <a:buChar char="•"/>
            </a:pPr>
          </a:p>
          <a:p>
            <a:pPr algn="l">
              <a:lnSpc>
                <a:spcPts val="3618"/>
              </a:lnSpc>
              <a:spcBef>
                <a:spcPct val="0"/>
              </a:spcBef>
            </a:pPr>
          </a:p>
          <a:p>
            <a:pPr algn="l">
              <a:lnSpc>
                <a:spcPts val="361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9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9918" y="8382460"/>
            <a:ext cx="19567836" cy="7386858"/>
          </a:xfrm>
          <a:custGeom>
            <a:avLst/>
            <a:gdLst/>
            <a:ahLst/>
            <a:cxnLst/>
            <a:rect r="r" b="b" t="t" l="l"/>
            <a:pathLst>
              <a:path h="7386858" w="19567836">
                <a:moveTo>
                  <a:pt x="0" y="0"/>
                </a:moveTo>
                <a:lnTo>
                  <a:pt x="19567836" y="0"/>
                </a:lnTo>
                <a:lnTo>
                  <a:pt x="19567836" y="7386858"/>
                </a:lnTo>
                <a:lnTo>
                  <a:pt x="0" y="73868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07614" y="0"/>
            <a:ext cx="10670738" cy="10670738"/>
          </a:xfrm>
          <a:custGeom>
            <a:avLst/>
            <a:gdLst/>
            <a:ahLst/>
            <a:cxnLst/>
            <a:rect r="r" b="b" t="t" l="l"/>
            <a:pathLst>
              <a:path h="10670738" w="10670738">
                <a:moveTo>
                  <a:pt x="0" y="0"/>
                </a:moveTo>
                <a:lnTo>
                  <a:pt x="10670738" y="0"/>
                </a:lnTo>
                <a:lnTo>
                  <a:pt x="10670738" y="10670738"/>
                </a:lnTo>
                <a:lnTo>
                  <a:pt x="0" y="10670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20133">
            <a:off x="-895837" y="-1878865"/>
            <a:ext cx="6393249" cy="5486050"/>
          </a:xfrm>
          <a:custGeom>
            <a:avLst/>
            <a:gdLst/>
            <a:ahLst/>
            <a:cxnLst/>
            <a:rect r="r" b="b" t="t" l="l"/>
            <a:pathLst>
              <a:path h="5486050" w="6393249">
                <a:moveTo>
                  <a:pt x="0" y="5486050"/>
                </a:moveTo>
                <a:lnTo>
                  <a:pt x="6393249" y="5486050"/>
                </a:lnTo>
                <a:lnTo>
                  <a:pt x="6393249" y="0"/>
                </a:lnTo>
                <a:lnTo>
                  <a:pt x="0" y="0"/>
                </a:lnTo>
                <a:lnTo>
                  <a:pt x="0" y="548605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954877" y="2704761"/>
            <a:ext cx="9017536" cy="9017536"/>
          </a:xfrm>
          <a:custGeom>
            <a:avLst/>
            <a:gdLst/>
            <a:ahLst/>
            <a:cxnLst/>
            <a:rect r="r" b="b" t="t" l="l"/>
            <a:pathLst>
              <a:path h="9017536" w="9017536">
                <a:moveTo>
                  <a:pt x="0" y="0"/>
                </a:moveTo>
                <a:lnTo>
                  <a:pt x="9017536" y="0"/>
                </a:lnTo>
                <a:lnTo>
                  <a:pt x="9017536" y="9017536"/>
                </a:lnTo>
                <a:lnTo>
                  <a:pt x="0" y="90175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20188">
            <a:off x="14831864" y="270704"/>
            <a:ext cx="6912272" cy="5931424"/>
          </a:xfrm>
          <a:custGeom>
            <a:avLst/>
            <a:gdLst/>
            <a:ahLst/>
            <a:cxnLst/>
            <a:rect r="r" b="b" t="t" l="l"/>
            <a:pathLst>
              <a:path h="5931424" w="6912272">
                <a:moveTo>
                  <a:pt x="0" y="0"/>
                </a:moveTo>
                <a:lnTo>
                  <a:pt x="6912272" y="0"/>
                </a:lnTo>
                <a:lnTo>
                  <a:pt x="6912272" y="5931425"/>
                </a:lnTo>
                <a:lnTo>
                  <a:pt x="0" y="5931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3876769" y="3853225"/>
            <a:ext cx="8332939" cy="8408011"/>
          </a:xfrm>
          <a:custGeom>
            <a:avLst/>
            <a:gdLst/>
            <a:ahLst/>
            <a:cxnLst/>
            <a:rect r="r" b="b" t="t" l="l"/>
            <a:pathLst>
              <a:path h="8408011" w="8332939">
                <a:moveTo>
                  <a:pt x="8332939" y="0"/>
                </a:moveTo>
                <a:lnTo>
                  <a:pt x="0" y="0"/>
                </a:lnTo>
                <a:lnTo>
                  <a:pt x="0" y="8408010"/>
                </a:lnTo>
                <a:lnTo>
                  <a:pt x="8332939" y="8408010"/>
                </a:lnTo>
                <a:lnTo>
                  <a:pt x="8332939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168164">
            <a:off x="-1327441" y="5567659"/>
            <a:ext cx="5524793" cy="2412937"/>
          </a:xfrm>
          <a:custGeom>
            <a:avLst/>
            <a:gdLst/>
            <a:ahLst/>
            <a:cxnLst/>
            <a:rect r="r" b="b" t="t" l="l"/>
            <a:pathLst>
              <a:path h="2412937" w="5524793">
                <a:moveTo>
                  <a:pt x="0" y="0"/>
                </a:moveTo>
                <a:lnTo>
                  <a:pt x="5524793" y="0"/>
                </a:lnTo>
                <a:lnTo>
                  <a:pt x="5524793" y="2412937"/>
                </a:lnTo>
                <a:lnTo>
                  <a:pt x="0" y="24129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892869" y="391025"/>
            <a:ext cx="10398346" cy="10279714"/>
          </a:xfrm>
          <a:custGeom>
            <a:avLst/>
            <a:gdLst/>
            <a:ahLst/>
            <a:cxnLst/>
            <a:rect r="r" b="b" t="t" l="l"/>
            <a:pathLst>
              <a:path h="10279714" w="10398346">
                <a:moveTo>
                  <a:pt x="0" y="0"/>
                </a:moveTo>
                <a:lnTo>
                  <a:pt x="10398346" y="0"/>
                </a:lnTo>
                <a:lnTo>
                  <a:pt x="10398346" y="10279713"/>
                </a:lnTo>
                <a:lnTo>
                  <a:pt x="0" y="102797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20039" y="267200"/>
            <a:ext cx="12047922" cy="107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0"/>
              </a:lnSpc>
              <a:spcBef>
                <a:spcPct val="0"/>
              </a:spcBef>
            </a:pPr>
            <a:r>
              <a:rPr lang="en-US" sz="6257">
                <a:solidFill>
                  <a:srgbClr val="EED3FF"/>
                </a:solidFill>
                <a:latin typeface="Zen Dots"/>
                <a:ea typeface="Zen Dots"/>
                <a:cs typeface="Zen Dots"/>
                <a:sym typeface="Zen Dots"/>
              </a:rPr>
              <a:t>SYSTEM STRUCTURE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9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48919" y="-7513244"/>
            <a:ext cx="10298328" cy="10298328"/>
          </a:xfrm>
          <a:custGeom>
            <a:avLst/>
            <a:gdLst/>
            <a:ahLst/>
            <a:cxnLst/>
            <a:rect r="r" b="b" t="t" l="l"/>
            <a:pathLst>
              <a:path h="10298328" w="10298328">
                <a:moveTo>
                  <a:pt x="0" y="0"/>
                </a:moveTo>
                <a:lnTo>
                  <a:pt x="10298327" y="0"/>
                </a:lnTo>
                <a:lnTo>
                  <a:pt x="10298327" y="10298328"/>
                </a:lnTo>
                <a:lnTo>
                  <a:pt x="0" y="102983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929990">
            <a:off x="-6604720" y="3939482"/>
            <a:ext cx="12013438" cy="8229600"/>
          </a:xfrm>
          <a:custGeom>
            <a:avLst/>
            <a:gdLst/>
            <a:ahLst/>
            <a:cxnLst/>
            <a:rect r="r" b="b" t="t" l="l"/>
            <a:pathLst>
              <a:path h="8229600" w="12013438">
                <a:moveTo>
                  <a:pt x="12013437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2013437" y="0"/>
                </a:lnTo>
                <a:lnTo>
                  <a:pt x="12013437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739482">
            <a:off x="10994618" y="5102593"/>
            <a:ext cx="12013438" cy="8229600"/>
          </a:xfrm>
          <a:custGeom>
            <a:avLst/>
            <a:gdLst/>
            <a:ahLst/>
            <a:cxnLst/>
            <a:rect r="r" b="b" t="t" l="l"/>
            <a:pathLst>
              <a:path h="8229600" w="12013438">
                <a:moveTo>
                  <a:pt x="0" y="8229600"/>
                </a:moveTo>
                <a:lnTo>
                  <a:pt x="12013438" y="8229600"/>
                </a:lnTo>
                <a:lnTo>
                  <a:pt x="12013438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994836" y="3628429"/>
            <a:ext cx="10452410" cy="6462361"/>
            <a:chOff x="0" y="0"/>
            <a:chExt cx="2752898" cy="17020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52898" cy="1702021"/>
            </a:xfrm>
            <a:custGeom>
              <a:avLst/>
              <a:gdLst/>
              <a:ahLst/>
              <a:cxnLst/>
              <a:rect r="r" b="b" t="t" l="l"/>
              <a:pathLst>
                <a:path h="1702021" w="2752898">
                  <a:moveTo>
                    <a:pt x="37775" y="0"/>
                  </a:moveTo>
                  <a:lnTo>
                    <a:pt x="2715123" y="0"/>
                  </a:lnTo>
                  <a:cubicBezTo>
                    <a:pt x="2725142" y="0"/>
                    <a:pt x="2734750" y="3980"/>
                    <a:pt x="2741834" y="11064"/>
                  </a:cubicBezTo>
                  <a:cubicBezTo>
                    <a:pt x="2748918" y="18148"/>
                    <a:pt x="2752898" y="27756"/>
                    <a:pt x="2752898" y="37775"/>
                  </a:cubicBezTo>
                  <a:lnTo>
                    <a:pt x="2752898" y="1664246"/>
                  </a:lnTo>
                  <a:cubicBezTo>
                    <a:pt x="2752898" y="1685109"/>
                    <a:pt x="2735986" y="1702021"/>
                    <a:pt x="2715123" y="1702021"/>
                  </a:cubicBezTo>
                  <a:lnTo>
                    <a:pt x="37775" y="1702021"/>
                  </a:lnTo>
                  <a:cubicBezTo>
                    <a:pt x="16912" y="1702021"/>
                    <a:pt x="0" y="1685109"/>
                    <a:pt x="0" y="1664246"/>
                  </a:cubicBezTo>
                  <a:lnTo>
                    <a:pt x="0" y="37775"/>
                  </a:lnTo>
                  <a:cubicBezTo>
                    <a:pt x="0" y="16912"/>
                    <a:pt x="16912" y="0"/>
                    <a:pt x="3777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D48E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752898" cy="1730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74757" y="2483923"/>
            <a:ext cx="8273027" cy="1589008"/>
            <a:chOff x="0" y="0"/>
            <a:chExt cx="2178904" cy="418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8904" cy="418504"/>
            </a:xfrm>
            <a:custGeom>
              <a:avLst/>
              <a:gdLst/>
              <a:ahLst/>
              <a:cxnLst/>
              <a:rect r="r" b="b" t="t" l="l"/>
              <a:pathLst>
                <a:path h="418504" w="2178904">
                  <a:moveTo>
                    <a:pt x="36496" y="0"/>
                  </a:moveTo>
                  <a:lnTo>
                    <a:pt x="2142408" y="0"/>
                  </a:lnTo>
                  <a:cubicBezTo>
                    <a:pt x="2152087" y="0"/>
                    <a:pt x="2161370" y="3845"/>
                    <a:pt x="2168215" y="10690"/>
                  </a:cubicBezTo>
                  <a:cubicBezTo>
                    <a:pt x="2175059" y="17534"/>
                    <a:pt x="2178904" y="26817"/>
                    <a:pt x="2178904" y="36496"/>
                  </a:cubicBezTo>
                  <a:lnTo>
                    <a:pt x="2178904" y="382008"/>
                  </a:lnTo>
                  <a:cubicBezTo>
                    <a:pt x="2178904" y="391687"/>
                    <a:pt x="2175059" y="400970"/>
                    <a:pt x="2168215" y="407815"/>
                  </a:cubicBezTo>
                  <a:cubicBezTo>
                    <a:pt x="2161370" y="414659"/>
                    <a:pt x="2152087" y="418504"/>
                    <a:pt x="2142408" y="418504"/>
                  </a:cubicBezTo>
                  <a:lnTo>
                    <a:pt x="36496" y="418504"/>
                  </a:lnTo>
                  <a:cubicBezTo>
                    <a:pt x="26817" y="418504"/>
                    <a:pt x="17534" y="414659"/>
                    <a:pt x="10690" y="407815"/>
                  </a:cubicBezTo>
                  <a:cubicBezTo>
                    <a:pt x="3845" y="400970"/>
                    <a:pt x="0" y="391687"/>
                    <a:pt x="0" y="382008"/>
                  </a:cubicBezTo>
                  <a:lnTo>
                    <a:pt x="0" y="36496"/>
                  </a:lnTo>
                  <a:cubicBezTo>
                    <a:pt x="0" y="26817"/>
                    <a:pt x="3845" y="17534"/>
                    <a:pt x="10690" y="10690"/>
                  </a:cubicBezTo>
                  <a:cubicBezTo>
                    <a:pt x="17534" y="3845"/>
                    <a:pt x="26817" y="0"/>
                    <a:pt x="36496" y="0"/>
                  </a:cubicBezTo>
                  <a:close/>
                </a:path>
              </a:pathLst>
            </a:custGeom>
            <a:solidFill>
              <a:srgbClr val="8525D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78904" cy="447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2050047">
            <a:off x="13933040" y="-243774"/>
            <a:ext cx="6652520" cy="4731686"/>
          </a:xfrm>
          <a:custGeom>
            <a:avLst/>
            <a:gdLst/>
            <a:ahLst/>
            <a:cxnLst/>
            <a:rect r="r" b="b" t="t" l="l"/>
            <a:pathLst>
              <a:path h="4731686" w="6652520">
                <a:moveTo>
                  <a:pt x="0" y="0"/>
                </a:moveTo>
                <a:lnTo>
                  <a:pt x="6652520" y="0"/>
                </a:lnTo>
                <a:lnTo>
                  <a:pt x="6652520" y="4731686"/>
                </a:lnTo>
                <a:lnTo>
                  <a:pt x="0" y="473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09" r="0" b="-80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812081" y="2661259"/>
            <a:ext cx="6972002" cy="105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  <a:spcBef>
                <a:spcPct val="0"/>
              </a:spcBef>
            </a:pPr>
            <a:r>
              <a:rPr lang="en-US" sz="6129">
                <a:solidFill>
                  <a:srgbClr val="EED3FF"/>
                </a:solidFill>
                <a:latin typeface="Zen Dots"/>
                <a:ea typeface="Zen Dots"/>
                <a:cs typeface="Zen Dots"/>
                <a:sym typeface="Zen Dots"/>
              </a:rPr>
              <a:t>CONCLUSION: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48919" y="4188448"/>
            <a:ext cx="10452410" cy="556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1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Data Science bot offers a seamless and interactive experience for automating key data science workflows, data cleaning, EDA, model training, and evaluation through natural language queries. With modular agents powered by Streamlit and LLM-driven logic, it simplifies complex analysis and empowers non-technical users to gain deep insights from their data in real time.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 spc="11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Areas for Improvement (Concise)</a:t>
            </a:r>
          </a:p>
          <a:p>
            <a:pPr algn="l" marL="453393" indent="-226697" lvl="1">
              <a:lnSpc>
                <a:spcPts val="2940"/>
              </a:lnSpc>
              <a:buFont typeface="Arial"/>
              <a:buChar char="•"/>
            </a:pPr>
            <a:r>
              <a:rPr lang="en-US" sz="2100" spc="11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Multi-turn reasoning: Add memory/context awareness to follow up intelligently on past queries.</a:t>
            </a:r>
          </a:p>
          <a:p>
            <a:pPr algn="l" marL="453393" indent="-226697" lvl="1">
              <a:lnSpc>
                <a:spcPts val="2940"/>
              </a:lnSpc>
              <a:buFont typeface="Arial"/>
              <a:buChar char="•"/>
            </a:pPr>
            <a:r>
              <a:rPr lang="en-US" sz="2100" spc="11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User-driven model selection: Let users choose algorithms and tune hyperparameters.</a:t>
            </a:r>
          </a:p>
          <a:p>
            <a:pPr algn="l" marL="453393" indent="-226697" lvl="1">
              <a:lnSpc>
                <a:spcPts val="2940"/>
              </a:lnSpc>
              <a:buFont typeface="Arial"/>
              <a:buChar char="•"/>
            </a:pPr>
            <a:r>
              <a:rPr lang="en-US" sz="2100" spc="11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Robust error handling: Improve LLM failure recovery and code validation.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true" flipV="false" rot="2486692">
            <a:off x="-1573469" y="-243774"/>
            <a:ext cx="6652520" cy="4731686"/>
          </a:xfrm>
          <a:custGeom>
            <a:avLst/>
            <a:gdLst/>
            <a:ahLst/>
            <a:cxnLst/>
            <a:rect r="r" b="b" t="t" l="l"/>
            <a:pathLst>
              <a:path h="4731686" w="6652520">
                <a:moveTo>
                  <a:pt x="6652520" y="0"/>
                </a:moveTo>
                <a:lnTo>
                  <a:pt x="0" y="0"/>
                </a:lnTo>
                <a:lnTo>
                  <a:pt x="0" y="4731686"/>
                </a:lnTo>
                <a:lnTo>
                  <a:pt x="6652520" y="4731686"/>
                </a:lnTo>
                <a:lnTo>
                  <a:pt x="6652520" y="0"/>
                </a:lnTo>
                <a:close/>
              </a:path>
            </a:pathLst>
          </a:custGeom>
          <a:blipFill>
            <a:blip r:embed="rId5"/>
            <a:stretch>
              <a:fillRect l="0" t="-809" r="0" b="-80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635593" y="8427591"/>
            <a:ext cx="7812191" cy="7812191"/>
          </a:xfrm>
          <a:custGeom>
            <a:avLst/>
            <a:gdLst/>
            <a:ahLst/>
            <a:cxnLst/>
            <a:rect r="r" b="b" t="t" l="l"/>
            <a:pathLst>
              <a:path h="7812191" w="7812191">
                <a:moveTo>
                  <a:pt x="0" y="0"/>
                </a:moveTo>
                <a:lnTo>
                  <a:pt x="7812192" y="0"/>
                </a:lnTo>
                <a:lnTo>
                  <a:pt x="7812192" y="7812191"/>
                </a:lnTo>
                <a:lnTo>
                  <a:pt x="0" y="7812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9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38970" y="2449617"/>
            <a:ext cx="10298328" cy="10298328"/>
          </a:xfrm>
          <a:custGeom>
            <a:avLst/>
            <a:gdLst/>
            <a:ahLst/>
            <a:cxnLst/>
            <a:rect r="r" b="b" t="t" l="l"/>
            <a:pathLst>
              <a:path h="10298328" w="10298328">
                <a:moveTo>
                  <a:pt x="0" y="0"/>
                </a:moveTo>
                <a:lnTo>
                  <a:pt x="10298328" y="0"/>
                </a:lnTo>
                <a:lnTo>
                  <a:pt x="10298328" y="10298328"/>
                </a:lnTo>
                <a:lnTo>
                  <a:pt x="0" y="102983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920133">
            <a:off x="-5816812" y="5721088"/>
            <a:ext cx="8690688" cy="7457484"/>
          </a:xfrm>
          <a:custGeom>
            <a:avLst/>
            <a:gdLst/>
            <a:ahLst/>
            <a:cxnLst/>
            <a:rect r="r" b="b" t="t" l="l"/>
            <a:pathLst>
              <a:path h="7457484" w="8690688">
                <a:moveTo>
                  <a:pt x="8690688" y="0"/>
                </a:moveTo>
                <a:lnTo>
                  <a:pt x="0" y="0"/>
                </a:lnTo>
                <a:lnTo>
                  <a:pt x="0" y="7457484"/>
                </a:lnTo>
                <a:lnTo>
                  <a:pt x="8690688" y="7457484"/>
                </a:lnTo>
                <a:lnTo>
                  <a:pt x="869068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38836" y="4300666"/>
            <a:ext cx="10298328" cy="10298328"/>
          </a:xfrm>
          <a:custGeom>
            <a:avLst/>
            <a:gdLst/>
            <a:ahLst/>
            <a:cxnLst/>
            <a:rect r="r" b="b" t="t" l="l"/>
            <a:pathLst>
              <a:path h="10298328" w="10298328">
                <a:moveTo>
                  <a:pt x="0" y="0"/>
                </a:moveTo>
                <a:lnTo>
                  <a:pt x="10298328" y="0"/>
                </a:lnTo>
                <a:lnTo>
                  <a:pt x="10298328" y="10298328"/>
                </a:lnTo>
                <a:lnTo>
                  <a:pt x="0" y="102983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84220" y="6558258"/>
            <a:ext cx="8690688" cy="7457484"/>
          </a:xfrm>
          <a:custGeom>
            <a:avLst/>
            <a:gdLst/>
            <a:ahLst/>
            <a:cxnLst/>
            <a:rect r="r" b="b" t="t" l="l"/>
            <a:pathLst>
              <a:path h="7457484" w="8690688">
                <a:moveTo>
                  <a:pt x="0" y="0"/>
                </a:moveTo>
                <a:lnTo>
                  <a:pt x="8690688" y="0"/>
                </a:lnTo>
                <a:lnTo>
                  <a:pt x="8690688" y="7457484"/>
                </a:lnTo>
                <a:lnTo>
                  <a:pt x="0" y="7457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50817" y="-5137660"/>
            <a:ext cx="7587277" cy="7587277"/>
          </a:xfrm>
          <a:custGeom>
            <a:avLst/>
            <a:gdLst/>
            <a:ahLst/>
            <a:cxnLst/>
            <a:rect r="r" b="b" t="t" l="l"/>
            <a:pathLst>
              <a:path h="7587277" w="7587277">
                <a:moveTo>
                  <a:pt x="0" y="0"/>
                </a:moveTo>
                <a:lnTo>
                  <a:pt x="7587277" y="0"/>
                </a:lnTo>
                <a:lnTo>
                  <a:pt x="7587277" y="7587277"/>
                </a:lnTo>
                <a:lnTo>
                  <a:pt x="0" y="7587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59383" y="1623797"/>
            <a:ext cx="11369234" cy="6309925"/>
          </a:xfrm>
          <a:custGeom>
            <a:avLst/>
            <a:gdLst/>
            <a:ahLst/>
            <a:cxnLst/>
            <a:rect r="r" b="b" t="t" l="l"/>
            <a:pathLst>
              <a:path h="6309925" w="11369234">
                <a:moveTo>
                  <a:pt x="0" y="0"/>
                </a:moveTo>
                <a:lnTo>
                  <a:pt x="11369234" y="0"/>
                </a:lnTo>
                <a:lnTo>
                  <a:pt x="11369234" y="6309925"/>
                </a:lnTo>
                <a:lnTo>
                  <a:pt x="0" y="63099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24474" y="3492593"/>
            <a:ext cx="8839051" cy="144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21"/>
              </a:lnSpc>
              <a:spcBef>
                <a:spcPct val="0"/>
              </a:spcBef>
            </a:pPr>
            <a:r>
              <a:rPr lang="en-US" sz="8372">
                <a:solidFill>
                  <a:srgbClr val="EED3FF"/>
                </a:solidFill>
                <a:latin typeface="Zen Dots"/>
                <a:ea typeface="Zen Dots"/>
                <a:cs typeface="Zen Dots"/>
                <a:sym typeface="Zen Dots"/>
              </a:rPr>
              <a:t>THANK YOU!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34967" y="1146507"/>
            <a:ext cx="6685616" cy="4897602"/>
          </a:xfrm>
          <a:custGeom>
            <a:avLst/>
            <a:gdLst/>
            <a:ahLst/>
            <a:cxnLst/>
            <a:rect r="r" b="b" t="t" l="l"/>
            <a:pathLst>
              <a:path h="4897602" w="6685616">
                <a:moveTo>
                  <a:pt x="0" y="0"/>
                </a:moveTo>
                <a:lnTo>
                  <a:pt x="6685615" y="0"/>
                </a:lnTo>
                <a:lnTo>
                  <a:pt x="6685615" y="4897602"/>
                </a:lnTo>
                <a:lnTo>
                  <a:pt x="0" y="48976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3238262" y="1318465"/>
            <a:ext cx="6685616" cy="4897602"/>
          </a:xfrm>
          <a:custGeom>
            <a:avLst/>
            <a:gdLst/>
            <a:ahLst/>
            <a:cxnLst/>
            <a:rect r="r" b="b" t="t" l="l"/>
            <a:pathLst>
              <a:path h="4897602" w="6685616">
                <a:moveTo>
                  <a:pt x="6685615" y="0"/>
                </a:moveTo>
                <a:lnTo>
                  <a:pt x="0" y="0"/>
                </a:lnTo>
                <a:lnTo>
                  <a:pt x="0" y="4897602"/>
                </a:lnTo>
                <a:lnTo>
                  <a:pt x="6685615" y="4897602"/>
                </a:lnTo>
                <a:lnTo>
                  <a:pt x="6685615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597431" y="-1344496"/>
            <a:ext cx="3731397" cy="2968293"/>
          </a:xfrm>
          <a:custGeom>
            <a:avLst/>
            <a:gdLst/>
            <a:ahLst/>
            <a:cxnLst/>
            <a:rect r="r" b="b" t="t" l="l"/>
            <a:pathLst>
              <a:path h="2968293" w="3731397">
                <a:moveTo>
                  <a:pt x="3731397" y="0"/>
                </a:moveTo>
                <a:lnTo>
                  <a:pt x="0" y="0"/>
                </a:lnTo>
                <a:lnTo>
                  <a:pt x="0" y="2968293"/>
                </a:lnTo>
                <a:lnTo>
                  <a:pt x="3731397" y="2968293"/>
                </a:lnTo>
                <a:lnTo>
                  <a:pt x="3731397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104842" y="-1344496"/>
            <a:ext cx="3731397" cy="2968293"/>
          </a:xfrm>
          <a:custGeom>
            <a:avLst/>
            <a:gdLst/>
            <a:ahLst/>
            <a:cxnLst/>
            <a:rect r="r" b="b" t="t" l="l"/>
            <a:pathLst>
              <a:path h="2968293" w="3731397">
                <a:moveTo>
                  <a:pt x="0" y="0"/>
                </a:moveTo>
                <a:lnTo>
                  <a:pt x="3731397" y="0"/>
                </a:lnTo>
                <a:lnTo>
                  <a:pt x="3731397" y="2968293"/>
                </a:lnTo>
                <a:lnTo>
                  <a:pt x="0" y="29682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DAGmH8EvRnE</dc:identifier>
  <dcterms:modified xsi:type="dcterms:W3CDTF">2011-08-01T06:04:30Z</dcterms:modified>
  <cp:revision>1</cp:revision>
  <dc:title>Dark Purple Neon Illustration Artificial Intelligence Presentation</dc:title>
</cp:coreProperties>
</file>